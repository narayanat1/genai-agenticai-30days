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Instrument Sans Semi Bold"/>
      <p:regular r:id="rId11"/>
    </p:embeddedFont>
    <p:embeddedFont>
      <p:font typeface="Instrument Sans Semi Bold"/>
      <p:regular r:id="rId12"/>
    </p:embeddedFont>
    <p:embeddedFont>
      <p:font typeface="Instrument Sans Semi Bold"/>
      <p:regular r:id="rId13"/>
    </p:embeddedFont>
    <p:embeddedFont>
      <p:font typeface="Instrument Sans Semi Bold"/>
      <p:regular r:id="rId14"/>
    </p:embeddedFont>
    <p:embeddedFont>
      <p:font typeface="Instrument Sans Medium"/>
      <p:regular r:id="rId15"/>
    </p:embeddedFont>
    <p:embeddedFont>
      <p:font typeface="Instrument Sans Medium"/>
      <p:regular r:id="rId16"/>
    </p:embeddedFont>
    <p:embeddedFont>
      <p:font typeface="Instrument Sans Medium"/>
      <p:regular r:id="rId17"/>
    </p:embeddedFont>
    <p:embeddedFont>
      <p:font typeface="Instrument Sans Medium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5D5D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5D5D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source.org/licenses/MIT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83073"/>
            <a:ext cx="70752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Day 8 — Memory in Agents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3201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Welcome to Day 8 of our deep dive into AI agents! Today, we explore a critical component that elevates AI from mere algorithms to intelligent conversational partners: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E98F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memory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Understanding how agents retain and recall information is key to building truly sophisticated and adaptive AI systems.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42355"/>
            <a:ext cx="7556421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Memory is Essential for AI Agents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280190" y="2060734"/>
            <a:ext cx="3693200" cy="3036451"/>
          </a:xfrm>
          <a:prstGeom prst="roundRect">
            <a:avLst>
              <a:gd name="adj" fmla="val 235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831" y="2238375"/>
            <a:ext cx="510302" cy="51030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206" y="2349937"/>
            <a:ext cx="229553" cy="2870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57831" y="2918698"/>
            <a:ext cx="237291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Tracks Past Interactions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6457831" y="3286482"/>
            <a:ext cx="3337917" cy="1633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Memory allows AI agents to store and recall previous inputs, outputs, and internal states. This continuous tracking builds a rich context for ongoing conversations and tasks, making interactions feel natural and coherent.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10143411" y="2060734"/>
            <a:ext cx="3693200" cy="3036451"/>
          </a:xfrm>
          <a:prstGeom prst="roundRect">
            <a:avLst>
              <a:gd name="adj" fmla="val 235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052" y="2238375"/>
            <a:ext cx="510302" cy="510302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1427" y="2349937"/>
            <a:ext cx="229553" cy="2870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321052" y="2918698"/>
            <a:ext cx="307871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Enables Contextual Responses</a:t>
            </a:r>
            <a:endParaRPr lang="en-US" sz="1650" dirty="0"/>
          </a:p>
        </p:txBody>
      </p:sp>
      <p:sp>
        <p:nvSpPr>
          <p:cNvPr id="13" name="Text 6"/>
          <p:cNvSpPr/>
          <p:nvPr/>
        </p:nvSpPr>
        <p:spPr>
          <a:xfrm>
            <a:off x="10321052" y="3286482"/>
            <a:ext cx="3337917" cy="1633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Without memory, every interaction would be a fresh start. Agents with memory can leverage historical context to generate relevant and personalized responses, avoiding repetitive questions and understanding nuanced requests.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6280190" y="5267206"/>
            <a:ext cx="7556421" cy="2219920"/>
          </a:xfrm>
          <a:prstGeom prst="roundRect">
            <a:avLst>
              <a:gd name="adj" fmla="val 321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831" y="5444847"/>
            <a:ext cx="510302" cy="510302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206" y="5556409"/>
            <a:ext cx="229553" cy="28706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457831" y="6125170"/>
            <a:ext cx="296418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Personalized User Experience</a:t>
            </a:r>
            <a:endParaRPr lang="en-US" sz="1650" dirty="0"/>
          </a:p>
        </p:txBody>
      </p:sp>
      <p:sp>
        <p:nvSpPr>
          <p:cNvPr id="18" name="Text 9"/>
          <p:cNvSpPr/>
          <p:nvPr/>
        </p:nvSpPr>
        <p:spPr>
          <a:xfrm>
            <a:off x="6457831" y="6492954"/>
            <a:ext cx="7201138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prime example: remembering your name. This seemingly simple act requires memory, allowing the agent to personalize the conversation, acknowledge your identity, and provide a more engaging user experience over 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1387"/>
            <a:ext cx="7360920" cy="49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Demonstrating Conversational Memory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0932" y="1432084"/>
            <a:ext cx="13048536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Let's walk through a simple yet powerful example of an AI agent utilizing its memory to provide a seamless conversational experience. This demo illustrates how context is retained and recalled within a chat history.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32" y="2294096"/>
            <a:ext cx="4431863" cy="443186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15701" y="2294096"/>
            <a:ext cx="6331387" cy="1057751"/>
          </a:xfrm>
          <a:prstGeom prst="roundRect">
            <a:avLst>
              <a:gd name="adj" fmla="val 6281"/>
            </a:avLst>
          </a:prstGeom>
          <a:solidFill>
            <a:srgbClr val="2A2A2D">
              <a:alpha val="95000"/>
            </a:srgbClr>
          </a:solidFill>
          <a:ln w="22860">
            <a:solidFill>
              <a:srgbClr val="56565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668" y="2222063"/>
            <a:ext cx="189786" cy="189786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9335" y="3234095"/>
            <a:ext cx="189786" cy="18978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12906" y="2696408"/>
            <a:ext cx="5574149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5E98F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My name is Narayana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7775734" y="2696408"/>
            <a:ext cx="22860" cy="253127"/>
          </a:xfrm>
          <a:prstGeom prst="rect">
            <a:avLst/>
          </a:prstGeom>
          <a:solidFill>
            <a:srgbClr val="D5D5D8"/>
          </a:solidFill>
          <a:ln/>
        </p:spPr>
      </p:sp>
      <p:sp>
        <p:nvSpPr>
          <p:cNvPr id="10" name="Shape 5"/>
          <p:cNvSpPr/>
          <p:nvPr/>
        </p:nvSpPr>
        <p:spPr>
          <a:xfrm>
            <a:off x="7515701" y="3509962"/>
            <a:ext cx="6331387" cy="1057751"/>
          </a:xfrm>
          <a:prstGeom prst="roundRect">
            <a:avLst>
              <a:gd name="adj" fmla="val 6281"/>
            </a:avLst>
          </a:prstGeom>
          <a:solidFill>
            <a:srgbClr val="2A2A2D">
              <a:alpha val="95000"/>
            </a:srgbClr>
          </a:solidFill>
          <a:ln w="22860">
            <a:solidFill>
              <a:srgbClr val="56565B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668" y="3437930"/>
            <a:ext cx="189786" cy="189786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9335" y="4449961"/>
            <a:ext cx="189786" cy="18978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012906" y="3912275"/>
            <a:ext cx="5574149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F713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Nice to meet you, Narayana.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7775734" y="3912275"/>
            <a:ext cx="22860" cy="253127"/>
          </a:xfrm>
          <a:prstGeom prst="rect">
            <a:avLst/>
          </a:prstGeom>
          <a:solidFill>
            <a:srgbClr val="D5D5D8"/>
          </a:solidFill>
          <a:ln/>
        </p:spPr>
      </p:sp>
      <p:sp>
        <p:nvSpPr>
          <p:cNvPr id="15" name="Shape 8"/>
          <p:cNvSpPr/>
          <p:nvPr/>
        </p:nvSpPr>
        <p:spPr>
          <a:xfrm>
            <a:off x="7515701" y="4725829"/>
            <a:ext cx="6331387" cy="1057751"/>
          </a:xfrm>
          <a:prstGeom prst="roundRect">
            <a:avLst>
              <a:gd name="adj" fmla="val 6281"/>
            </a:avLst>
          </a:prstGeom>
          <a:solidFill>
            <a:srgbClr val="2A2A2D">
              <a:alpha val="95000"/>
            </a:srgbClr>
          </a:solidFill>
          <a:ln w="22860">
            <a:solidFill>
              <a:srgbClr val="56565B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668" y="4653796"/>
            <a:ext cx="189786" cy="189786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29335" y="5665827"/>
            <a:ext cx="189786" cy="18978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012906" y="5128141"/>
            <a:ext cx="5574149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5E98F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What's my name?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7775734" y="5128141"/>
            <a:ext cx="22860" cy="253127"/>
          </a:xfrm>
          <a:prstGeom prst="rect">
            <a:avLst/>
          </a:prstGeom>
          <a:solidFill>
            <a:srgbClr val="D5D5D8"/>
          </a:solidFill>
          <a:ln/>
        </p:spPr>
      </p:sp>
      <p:sp>
        <p:nvSpPr>
          <p:cNvPr id="20" name="Shape 11"/>
          <p:cNvSpPr/>
          <p:nvPr/>
        </p:nvSpPr>
        <p:spPr>
          <a:xfrm>
            <a:off x="7515701" y="5941695"/>
            <a:ext cx="6331387" cy="1057751"/>
          </a:xfrm>
          <a:prstGeom prst="roundRect">
            <a:avLst>
              <a:gd name="adj" fmla="val 6281"/>
            </a:avLst>
          </a:prstGeom>
          <a:solidFill>
            <a:srgbClr val="2A2A2D">
              <a:alpha val="95000"/>
            </a:srgbClr>
          </a:solidFill>
          <a:ln w="22860">
            <a:solidFill>
              <a:srgbClr val="56565B"/>
            </a:solidFill>
            <a:prstDash val="solid"/>
          </a:ln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3668" y="5869662"/>
            <a:ext cx="189786" cy="189786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9335" y="6881693"/>
            <a:ext cx="189786" cy="18978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8012906" y="6344007"/>
            <a:ext cx="5574149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F713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You said your name is Narayana.</a:t>
            </a:r>
            <a:endParaRPr lang="en-US" sz="1200" dirty="0"/>
          </a:p>
        </p:txBody>
      </p:sp>
      <p:sp>
        <p:nvSpPr>
          <p:cNvPr id="24" name="Shape 13"/>
          <p:cNvSpPr/>
          <p:nvPr/>
        </p:nvSpPr>
        <p:spPr>
          <a:xfrm>
            <a:off x="7775734" y="6344007"/>
            <a:ext cx="22860" cy="253127"/>
          </a:xfrm>
          <a:prstGeom prst="rect">
            <a:avLst/>
          </a:prstGeom>
          <a:solidFill>
            <a:srgbClr val="D5D5D8"/>
          </a:solidFill>
          <a:ln/>
        </p:spPr>
      </p:sp>
      <p:sp>
        <p:nvSpPr>
          <p:cNvPr id="25" name="Text 14"/>
          <p:cNvSpPr/>
          <p:nvPr/>
        </p:nvSpPr>
        <p:spPr>
          <a:xfrm>
            <a:off x="790932" y="7355205"/>
            <a:ext cx="1304853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exchange, powered by the agent's memory, showcases its ability to recall previously provided information, enhancing interaction flow and user satisfaction.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4497"/>
            <a:ext cx="600217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Important Notes &amp; Attribution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280190" y="1521262"/>
            <a:ext cx="7556421" cy="1570077"/>
          </a:xfrm>
          <a:prstGeom prst="roundRect">
            <a:avLst>
              <a:gd name="adj" fmla="val 4551"/>
            </a:avLst>
          </a:prstGeom>
          <a:solidFill>
            <a:srgbClr val="D5D5D8">
              <a:alpha val="95000"/>
            </a:srgbClr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03050" y="1544122"/>
            <a:ext cx="680442" cy="1524357"/>
          </a:xfrm>
          <a:prstGeom prst="roundRect">
            <a:avLst>
              <a:gd name="adj" fmla="val 6469"/>
            </a:avLst>
          </a:prstGeom>
          <a:solidFill>
            <a:srgbClr val="3D3D42"/>
          </a:solidFill>
          <a:ln/>
        </p:spPr>
      </p:sp>
      <p:sp>
        <p:nvSpPr>
          <p:cNvPr id="6" name="Text 3"/>
          <p:cNvSpPr/>
          <p:nvPr/>
        </p:nvSpPr>
        <p:spPr>
          <a:xfrm>
            <a:off x="7153513" y="1714143"/>
            <a:ext cx="234291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Educational Demo Only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153513" y="2081927"/>
            <a:ext cx="6660237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presentation and the accompanying demo are intended purely for educational purposes and to illustrate concepts of AI agent memory. It is a simplified representation.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80190" y="3261360"/>
            <a:ext cx="7556421" cy="1297900"/>
          </a:xfrm>
          <a:prstGeom prst="roundRect">
            <a:avLst>
              <a:gd name="adj" fmla="val 5505"/>
            </a:avLst>
          </a:prstGeom>
          <a:solidFill>
            <a:srgbClr val="D5D5D8">
              <a:alpha val="95000"/>
            </a:srgbClr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3050" y="3284220"/>
            <a:ext cx="680442" cy="1252180"/>
          </a:xfrm>
          <a:prstGeom prst="roundRect">
            <a:avLst>
              <a:gd name="adj" fmla="val 6469"/>
            </a:avLst>
          </a:prstGeom>
          <a:solidFill>
            <a:srgbClr val="3D3D42"/>
          </a:solidFill>
          <a:ln/>
        </p:spPr>
      </p:sp>
      <p:sp>
        <p:nvSpPr>
          <p:cNvPr id="10" name="Text 7"/>
          <p:cNvSpPr/>
          <p:nvPr/>
        </p:nvSpPr>
        <p:spPr>
          <a:xfrm>
            <a:off x="7153513" y="345424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Open Source License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153513" y="3822025"/>
            <a:ext cx="666023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underlying code for this demonstration is released under the </a:t>
            </a:r>
            <a:pPr algn="l" indent="0" marL="0">
              <a:lnSpc>
                <a:spcPts val="2100"/>
              </a:lnSpc>
              <a:buNone/>
            </a:pPr>
            <a:r>
              <a:rPr lang="en-US" sz="1300" u="sng" dirty="0">
                <a:solidFill>
                  <a:srgbClr val="4A4A4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 License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promoting open collaboration and development in the AI community.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80190" y="4729282"/>
            <a:ext cx="7556421" cy="1297900"/>
          </a:xfrm>
          <a:prstGeom prst="roundRect">
            <a:avLst>
              <a:gd name="adj" fmla="val 5505"/>
            </a:avLst>
          </a:prstGeom>
          <a:solidFill>
            <a:srgbClr val="D5D5D8">
              <a:alpha val="95000"/>
            </a:srgbClr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3050" y="4752142"/>
            <a:ext cx="680442" cy="1252180"/>
          </a:xfrm>
          <a:prstGeom prst="roundRect">
            <a:avLst>
              <a:gd name="adj" fmla="val 6469"/>
            </a:avLst>
          </a:prstGeom>
          <a:solidFill>
            <a:srgbClr val="3D3D42"/>
          </a:solidFill>
          <a:ln/>
        </p:spPr>
      </p:sp>
      <p:sp>
        <p:nvSpPr>
          <p:cNvPr id="14" name="Text 11"/>
          <p:cNvSpPr/>
          <p:nvPr/>
        </p:nvSpPr>
        <p:spPr>
          <a:xfrm>
            <a:off x="7153513" y="492216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Independent Project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153513" y="5289947"/>
            <a:ext cx="666023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project is an independent personal initiative, developed to explore and share insights into advanced AI topics, driven by passion for innovation.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80190" y="6197203"/>
            <a:ext cx="7556421" cy="1297900"/>
          </a:xfrm>
          <a:prstGeom prst="roundRect">
            <a:avLst>
              <a:gd name="adj" fmla="val 5505"/>
            </a:avLst>
          </a:prstGeom>
          <a:solidFill>
            <a:srgbClr val="D5D5D8">
              <a:alpha val="95000"/>
            </a:srgbClr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3050" y="6220063"/>
            <a:ext cx="680442" cy="1252180"/>
          </a:xfrm>
          <a:prstGeom prst="roundRect">
            <a:avLst>
              <a:gd name="adj" fmla="val 6469"/>
            </a:avLst>
          </a:prstGeom>
          <a:solidFill>
            <a:srgbClr val="3D3D42"/>
          </a:solidFill>
          <a:ln/>
        </p:spPr>
      </p:sp>
      <p:sp>
        <p:nvSpPr>
          <p:cNvPr id="18" name="Text 15"/>
          <p:cNvSpPr/>
          <p:nvPr/>
        </p:nvSpPr>
        <p:spPr>
          <a:xfrm>
            <a:off x="7153513" y="6390084"/>
            <a:ext cx="289381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Powered by CloudByteHub.ai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153513" y="6757868"/>
            <a:ext cx="666023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innovative technologies and foundational principles showcased in this demo are brought to you by 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E98F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CloudByteHub.ai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your partner in cutting-edge AI solutions.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2025-09-10T07:40:28Z</dcterms:created>
  <dcterms:modified xsi:type="dcterms:W3CDTF">2025-09-10T07:40:28Z</dcterms:modified>
</cp:coreProperties>
</file>