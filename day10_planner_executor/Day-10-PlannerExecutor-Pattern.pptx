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4630400" cy="8229600"/>
  <p:notesSz cx="8229600" cy="14630400"/>
  <p:embeddedFontLst>
    <p:embeddedFont>
      <p:font typeface="Syne"/>
      <p:regular r:id="rId11"/>
    </p:embeddedFont>
    <p:embeddedFont>
      <p:font typeface="Syne"/>
      <p:regular r:id="rId12"/>
    </p:embeddedFont>
    <p:embeddedFont>
      <p:font typeface="Arimo"/>
      <p:regular r:id="rId13"/>
    </p:embeddedFont>
    <p:embeddedFont>
      <p:font typeface="Arimo"/>
      <p:regular r:id="rId14"/>
    </p:embeddedFont>
    <p:embeddedFont>
      <p:font typeface="Arimo"/>
      <p:regular r:id="rId15"/>
    </p:embeddedFont>
    <p:embeddedFont>
      <p:font typeface="Arimo"/>
      <p:regular r:id="rId16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openxmlformats.org/officeDocument/2006/relationships/font" Target="fonts/font1.fntdata"/><Relationship Id="rId12" Type="http://schemas.openxmlformats.org/officeDocument/2006/relationships/font" Target="fonts/font2.fntdata"/><Relationship Id="rId13" Type="http://schemas.openxmlformats.org/officeDocument/2006/relationships/font" Target="fonts/font3.fntdata"/><Relationship Id="rId14" Type="http://schemas.openxmlformats.org/officeDocument/2006/relationships/font" Target="fonts/font4.fntdata"/><Relationship Id="rId15" Type="http://schemas.openxmlformats.org/officeDocument/2006/relationships/font" Target="fonts/font5.fntdata"/><Relationship Id="rId16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0D4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A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0D4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A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0D4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A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0D4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A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7724" y="1978581"/>
            <a:ext cx="7468553" cy="2112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Day 10 — Planner/Executor Pattern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837724" y="4449604"/>
            <a:ext cx="7468553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Split the work: Plan → Execute | CloudByteHub.ai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837724" y="5101828"/>
            <a:ext cx="7468553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 fundamental design pattern that separates strategic planning from tactical execution, enabling more reliable and maintainable AI workflows.</a:t>
            </a:r>
            <a:endParaRPr lang="en-US" sz="1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7724" y="756523"/>
            <a:ext cx="5069205" cy="633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950"/>
              </a:lnSpc>
              <a:buNone/>
            </a:pPr>
            <a:r>
              <a:rPr lang="en-US" sz="39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Core Architecture</a:t>
            </a:r>
            <a:endParaRPr lang="en-US" sz="3950" dirty="0"/>
          </a:p>
        </p:txBody>
      </p:sp>
      <p:sp>
        <p:nvSpPr>
          <p:cNvPr id="4" name="Shape 1"/>
          <p:cNvSpPr/>
          <p:nvPr/>
        </p:nvSpPr>
        <p:spPr>
          <a:xfrm>
            <a:off x="837724" y="1713309"/>
            <a:ext cx="3626525" cy="3116699"/>
          </a:xfrm>
          <a:prstGeom prst="roundRect">
            <a:avLst>
              <a:gd name="adj" fmla="val 1037"/>
            </a:avLst>
          </a:prstGeom>
          <a:solidFill>
            <a:srgbClr val="2B2952"/>
          </a:solidFill>
          <a:ln/>
        </p:spPr>
      </p:sp>
      <p:sp>
        <p:nvSpPr>
          <p:cNvPr id="5" name="Shape 2"/>
          <p:cNvSpPr/>
          <p:nvPr/>
        </p:nvSpPr>
        <p:spPr>
          <a:xfrm>
            <a:off x="1053108" y="1928693"/>
            <a:ext cx="646271" cy="646271"/>
          </a:xfrm>
          <a:prstGeom prst="roundRect">
            <a:avLst>
              <a:gd name="adj" fmla="val 14147448"/>
            </a:avLst>
          </a:prstGeom>
          <a:solidFill>
            <a:srgbClr val="8061FF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0868" y="2070021"/>
            <a:ext cx="290751" cy="36349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53108" y="2790349"/>
            <a:ext cx="2534603" cy="316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Planner</a:t>
            </a:r>
            <a:endParaRPr lang="en-US" sz="1950" dirty="0"/>
          </a:p>
        </p:txBody>
      </p:sp>
      <p:sp>
        <p:nvSpPr>
          <p:cNvPr id="8" name="Text 4"/>
          <p:cNvSpPr/>
          <p:nvPr/>
        </p:nvSpPr>
        <p:spPr>
          <a:xfrm>
            <a:off x="1053108" y="3236357"/>
            <a:ext cx="3195757" cy="1378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Decomposes high-level goals into actionable, sequential steps. Handles the strategic thinking and task breakdown.</a:t>
            </a:r>
            <a:endParaRPr lang="en-US" sz="1650" dirty="0"/>
          </a:p>
        </p:txBody>
      </p:sp>
      <p:sp>
        <p:nvSpPr>
          <p:cNvPr id="9" name="Shape 5"/>
          <p:cNvSpPr/>
          <p:nvPr/>
        </p:nvSpPr>
        <p:spPr>
          <a:xfrm>
            <a:off x="4679633" y="1713309"/>
            <a:ext cx="3626644" cy="3116699"/>
          </a:xfrm>
          <a:prstGeom prst="roundRect">
            <a:avLst>
              <a:gd name="adj" fmla="val 1037"/>
            </a:avLst>
          </a:prstGeom>
          <a:solidFill>
            <a:srgbClr val="2B2952"/>
          </a:solidFill>
          <a:ln/>
        </p:spPr>
      </p:sp>
      <p:sp>
        <p:nvSpPr>
          <p:cNvPr id="10" name="Shape 6"/>
          <p:cNvSpPr/>
          <p:nvPr/>
        </p:nvSpPr>
        <p:spPr>
          <a:xfrm>
            <a:off x="4895017" y="1928693"/>
            <a:ext cx="646271" cy="646271"/>
          </a:xfrm>
          <a:prstGeom prst="roundRect">
            <a:avLst>
              <a:gd name="adj" fmla="val 14147448"/>
            </a:avLst>
          </a:prstGeom>
          <a:solidFill>
            <a:srgbClr val="8061FF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2777" y="2070021"/>
            <a:ext cx="290751" cy="36349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895017" y="2790349"/>
            <a:ext cx="2534603" cy="316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Executor</a:t>
            </a:r>
            <a:endParaRPr lang="en-US" sz="1950" dirty="0"/>
          </a:p>
        </p:txBody>
      </p:sp>
      <p:sp>
        <p:nvSpPr>
          <p:cNvPr id="13" name="Text 8"/>
          <p:cNvSpPr/>
          <p:nvPr/>
        </p:nvSpPr>
        <p:spPr>
          <a:xfrm>
            <a:off x="4895017" y="3236357"/>
            <a:ext cx="3195876" cy="1378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Performs each planned step methodically. Focuses purely on execution without strategic concerns.</a:t>
            </a:r>
            <a:endParaRPr lang="en-US" sz="1650" dirty="0"/>
          </a:p>
        </p:txBody>
      </p:sp>
      <p:sp>
        <p:nvSpPr>
          <p:cNvPr id="14" name="Shape 9"/>
          <p:cNvSpPr/>
          <p:nvPr/>
        </p:nvSpPr>
        <p:spPr>
          <a:xfrm>
            <a:off x="837724" y="5045393"/>
            <a:ext cx="7468553" cy="2427565"/>
          </a:xfrm>
          <a:prstGeom prst="roundRect">
            <a:avLst>
              <a:gd name="adj" fmla="val 1331"/>
            </a:avLst>
          </a:prstGeom>
          <a:solidFill>
            <a:srgbClr val="2B2952"/>
          </a:solidFill>
          <a:ln/>
        </p:spPr>
      </p:sp>
      <p:sp>
        <p:nvSpPr>
          <p:cNvPr id="15" name="Shape 10"/>
          <p:cNvSpPr/>
          <p:nvPr/>
        </p:nvSpPr>
        <p:spPr>
          <a:xfrm>
            <a:off x="1053108" y="5260777"/>
            <a:ext cx="646271" cy="646271"/>
          </a:xfrm>
          <a:prstGeom prst="roundRect">
            <a:avLst>
              <a:gd name="adj" fmla="val 14147448"/>
            </a:avLst>
          </a:prstGeom>
          <a:solidFill>
            <a:srgbClr val="8061FF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0868" y="5402104"/>
            <a:ext cx="290751" cy="36349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053108" y="6122432"/>
            <a:ext cx="2534603" cy="316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Supervisor</a:t>
            </a:r>
            <a:endParaRPr lang="en-US" sz="1950" dirty="0"/>
          </a:p>
        </p:txBody>
      </p:sp>
      <p:sp>
        <p:nvSpPr>
          <p:cNvPr id="18" name="Text 12"/>
          <p:cNvSpPr/>
          <p:nvPr/>
        </p:nvSpPr>
        <p:spPr>
          <a:xfrm>
            <a:off x="1053108" y="6568440"/>
            <a:ext cx="7037784" cy="689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Records transcript and tracks completion status. Maintains oversight of the entire process.</a:t>
            </a:r>
            <a:endParaRPr lang="en-US" sz="1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3221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16504" y="652224"/>
            <a:ext cx="6658928" cy="5929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650"/>
              </a:lnSpc>
              <a:buNone/>
            </a:pPr>
            <a:r>
              <a:rPr lang="en-US" sz="37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Example Implementation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316504" y="1547455"/>
            <a:ext cx="201573" cy="2519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Syne Light" pitchFamily="34" charset="0"/>
                <a:ea typeface="Syne Light" pitchFamily="34" charset="-122"/>
                <a:cs typeface="Syne Light" pitchFamily="34" charset="-120"/>
              </a:rPr>
              <a:t>01</a:t>
            </a:r>
            <a:endParaRPr lang="en-US" sz="1550" dirty="0"/>
          </a:p>
        </p:txBody>
      </p:sp>
      <p:sp>
        <p:nvSpPr>
          <p:cNvPr id="5" name="Shape 2"/>
          <p:cNvSpPr/>
          <p:nvPr/>
        </p:nvSpPr>
        <p:spPr>
          <a:xfrm>
            <a:off x="6316504" y="1867138"/>
            <a:ext cx="7483792" cy="22860"/>
          </a:xfrm>
          <a:prstGeom prst="rect">
            <a:avLst/>
          </a:prstGeom>
          <a:solidFill>
            <a:srgbClr val="8061FF"/>
          </a:solidFill>
          <a:ln/>
        </p:spPr>
      </p:sp>
      <p:sp>
        <p:nvSpPr>
          <p:cNvPr id="6" name="Text 3"/>
          <p:cNvSpPr/>
          <p:nvPr/>
        </p:nvSpPr>
        <p:spPr>
          <a:xfrm>
            <a:off x="6316504" y="2013585"/>
            <a:ext cx="2371844" cy="296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Initial Task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6316504" y="2430899"/>
            <a:ext cx="7483792" cy="322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"Plan a weekend trip" - high-level goal requiring decomposition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6316504" y="3105983"/>
            <a:ext cx="201573" cy="2519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Syne Light" pitchFamily="34" charset="0"/>
                <a:ea typeface="Syne Light" pitchFamily="34" charset="-122"/>
                <a:cs typeface="Syne Light" pitchFamily="34" charset="-120"/>
              </a:rPr>
              <a:t>02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6316504" y="3425666"/>
            <a:ext cx="7483792" cy="22860"/>
          </a:xfrm>
          <a:prstGeom prst="rect">
            <a:avLst/>
          </a:prstGeom>
          <a:solidFill>
            <a:srgbClr val="8061FF"/>
          </a:solidFill>
          <a:ln/>
        </p:spPr>
      </p:sp>
      <p:sp>
        <p:nvSpPr>
          <p:cNvPr id="10" name="Text 7"/>
          <p:cNvSpPr/>
          <p:nvPr/>
        </p:nvSpPr>
        <p:spPr>
          <a:xfrm>
            <a:off x="6316504" y="3572113"/>
            <a:ext cx="2371844" cy="296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Planner Output</a:t>
            </a:r>
            <a:endParaRPr lang="en-US" sz="1850" dirty="0"/>
          </a:p>
        </p:txBody>
      </p:sp>
      <p:sp>
        <p:nvSpPr>
          <p:cNvPr id="11" name="Text 8"/>
          <p:cNvSpPr/>
          <p:nvPr/>
        </p:nvSpPr>
        <p:spPr>
          <a:xfrm>
            <a:off x="6316504" y="3989427"/>
            <a:ext cx="7483792" cy="322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Generates structured checklist: destination research, booking, packing, itinerary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6316504" y="4664512"/>
            <a:ext cx="201573" cy="2519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Syne Light" pitchFamily="34" charset="0"/>
                <a:ea typeface="Syne Light" pitchFamily="34" charset="-122"/>
                <a:cs typeface="Syne Light" pitchFamily="34" charset="-120"/>
              </a:rPr>
              <a:t>03</a:t>
            </a:r>
            <a:endParaRPr lang="en-US" sz="1550" dirty="0"/>
          </a:p>
        </p:txBody>
      </p:sp>
      <p:sp>
        <p:nvSpPr>
          <p:cNvPr id="13" name="Shape 10"/>
          <p:cNvSpPr/>
          <p:nvPr/>
        </p:nvSpPr>
        <p:spPr>
          <a:xfrm>
            <a:off x="6316504" y="4984194"/>
            <a:ext cx="7483792" cy="22860"/>
          </a:xfrm>
          <a:prstGeom prst="rect">
            <a:avLst/>
          </a:prstGeom>
          <a:solidFill>
            <a:srgbClr val="8061FF"/>
          </a:solidFill>
          <a:ln/>
        </p:spPr>
      </p:sp>
      <p:sp>
        <p:nvSpPr>
          <p:cNvPr id="14" name="Text 11"/>
          <p:cNvSpPr/>
          <p:nvPr/>
        </p:nvSpPr>
        <p:spPr>
          <a:xfrm>
            <a:off x="6316504" y="5130641"/>
            <a:ext cx="2371844" cy="296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Executor Work</a:t>
            </a:r>
            <a:endParaRPr lang="en-US" sz="1850" dirty="0"/>
          </a:p>
        </p:txBody>
      </p:sp>
      <p:sp>
        <p:nvSpPr>
          <p:cNvPr id="15" name="Text 12"/>
          <p:cNvSpPr/>
          <p:nvPr/>
        </p:nvSpPr>
        <p:spPr>
          <a:xfrm>
            <a:off x="6316504" y="5547955"/>
            <a:ext cx="7483792" cy="322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Systematically completes each step, marking progress as tasks finish</a:t>
            </a:r>
            <a:endParaRPr lang="en-US" sz="1550" dirty="0"/>
          </a:p>
        </p:txBody>
      </p:sp>
      <p:sp>
        <p:nvSpPr>
          <p:cNvPr id="16" name="Text 13"/>
          <p:cNvSpPr/>
          <p:nvPr/>
        </p:nvSpPr>
        <p:spPr>
          <a:xfrm>
            <a:off x="6316504" y="6223040"/>
            <a:ext cx="201573" cy="2519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Syne Light" pitchFamily="34" charset="0"/>
                <a:ea typeface="Syne Light" pitchFamily="34" charset="-122"/>
                <a:cs typeface="Syne Light" pitchFamily="34" charset="-120"/>
              </a:rPr>
              <a:t>04</a:t>
            </a:r>
            <a:endParaRPr lang="en-US" sz="1550" dirty="0"/>
          </a:p>
        </p:txBody>
      </p:sp>
      <p:sp>
        <p:nvSpPr>
          <p:cNvPr id="17" name="Shape 14"/>
          <p:cNvSpPr/>
          <p:nvPr/>
        </p:nvSpPr>
        <p:spPr>
          <a:xfrm>
            <a:off x="6316504" y="6542723"/>
            <a:ext cx="7483792" cy="22860"/>
          </a:xfrm>
          <a:prstGeom prst="rect">
            <a:avLst/>
          </a:prstGeom>
          <a:solidFill>
            <a:srgbClr val="8061FF"/>
          </a:solidFill>
          <a:ln/>
        </p:spPr>
      </p:sp>
      <p:sp>
        <p:nvSpPr>
          <p:cNvPr id="18" name="Text 15"/>
          <p:cNvSpPr/>
          <p:nvPr/>
        </p:nvSpPr>
        <p:spPr>
          <a:xfrm>
            <a:off x="6316504" y="6689169"/>
            <a:ext cx="2371844" cy="296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Supervisor Result</a:t>
            </a:r>
            <a:endParaRPr lang="en-US" sz="1850" dirty="0"/>
          </a:p>
        </p:txBody>
      </p:sp>
      <p:sp>
        <p:nvSpPr>
          <p:cNvPr id="19" name="Text 16"/>
          <p:cNvSpPr/>
          <p:nvPr/>
        </p:nvSpPr>
        <p:spPr>
          <a:xfrm>
            <a:off x="6316504" y="7106483"/>
            <a:ext cx="7483792" cy="322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Declares completion when all checklist items are verified and documented</a:t>
            </a:r>
            <a:endParaRPr lang="en-US" sz="1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24124" y="848201"/>
            <a:ext cx="7468553" cy="11265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35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Implementation Best Practices</a:t>
            </a:r>
            <a:endParaRPr lang="en-US" sz="3500" dirty="0"/>
          </a:p>
        </p:txBody>
      </p:sp>
      <p:sp>
        <p:nvSpPr>
          <p:cNvPr id="4" name="Shape 1"/>
          <p:cNvSpPr/>
          <p:nvPr/>
        </p:nvSpPr>
        <p:spPr>
          <a:xfrm>
            <a:off x="6324124" y="2261949"/>
            <a:ext cx="3638550" cy="2050018"/>
          </a:xfrm>
          <a:prstGeom prst="roundRect">
            <a:avLst>
              <a:gd name="adj" fmla="val 5353"/>
            </a:avLst>
          </a:prstGeom>
          <a:solidFill>
            <a:srgbClr val="0C0A33"/>
          </a:solidFill>
          <a:ln w="22860">
            <a:solidFill>
              <a:srgbClr val="8061FF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301264" y="2261949"/>
            <a:ext cx="91440" cy="2050018"/>
          </a:xfrm>
          <a:prstGeom prst="roundRect">
            <a:avLst>
              <a:gd name="adj" fmla="val 31415"/>
            </a:avLst>
          </a:prstGeom>
          <a:solidFill>
            <a:srgbClr val="8061FF"/>
          </a:solidFill>
          <a:ln/>
        </p:spPr>
      </p:sp>
      <p:sp>
        <p:nvSpPr>
          <p:cNvPr id="6" name="Text 3"/>
          <p:cNvSpPr/>
          <p:nvPr/>
        </p:nvSpPr>
        <p:spPr>
          <a:xfrm>
            <a:off x="6607016" y="2476262"/>
            <a:ext cx="2252901" cy="281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Explicit Planning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6607016" y="2872740"/>
            <a:ext cx="3141345" cy="1224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Keep plans visible and ordered. Clear step documentation enables debugging and prevents execution drift.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10154126" y="2261949"/>
            <a:ext cx="3638550" cy="2050018"/>
          </a:xfrm>
          <a:prstGeom prst="roundRect">
            <a:avLst>
              <a:gd name="adj" fmla="val 5353"/>
            </a:avLst>
          </a:prstGeom>
          <a:solidFill>
            <a:srgbClr val="0C0A33"/>
          </a:solidFill>
          <a:ln w="22860">
            <a:solidFill>
              <a:srgbClr val="8061F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0131266" y="2261949"/>
            <a:ext cx="91440" cy="2050018"/>
          </a:xfrm>
          <a:prstGeom prst="roundRect">
            <a:avLst>
              <a:gd name="adj" fmla="val 31415"/>
            </a:avLst>
          </a:prstGeom>
          <a:solidFill>
            <a:srgbClr val="8061FF"/>
          </a:solidFill>
          <a:ln/>
        </p:spPr>
      </p:sp>
      <p:sp>
        <p:nvSpPr>
          <p:cNvPr id="10" name="Text 7"/>
          <p:cNvSpPr/>
          <p:nvPr/>
        </p:nvSpPr>
        <p:spPr>
          <a:xfrm>
            <a:off x="10437019" y="2476262"/>
            <a:ext cx="2900243" cy="281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Idempotent Operations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10437019" y="2872740"/>
            <a:ext cx="3141345" cy="1224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Design steps to be safely repeatable. Failed executions can restart without side effects or data corruption.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6324124" y="4503420"/>
            <a:ext cx="3638550" cy="2050018"/>
          </a:xfrm>
          <a:prstGeom prst="roundRect">
            <a:avLst>
              <a:gd name="adj" fmla="val 5353"/>
            </a:avLst>
          </a:prstGeom>
          <a:solidFill>
            <a:srgbClr val="0C0A33"/>
          </a:solidFill>
          <a:ln w="22860">
            <a:solidFill>
              <a:srgbClr val="8061F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301264" y="4503420"/>
            <a:ext cx="91440" cy="2050018"/>
          </a:xfrm>
          <a:prstGeom prst="roundRect">
            <a:avLst>
              <a:gd name="adj" fmla="val 31415"/>
            </a:avLst>
          </a:prstGeom>
          <a:solidFill>
            <a:srgbClr val="8061FF"/>
          </a:solidFill>
          <a:ln/>
        </p:spPr>
      </p:sp>
      <p:sp>
        <p:nvSpPr>
          <p:cNvPr id="14" name="Text 11"/>
          <p:cNvSpPr/>
          <p:nvPr/>
        </p:nvSpPr>
        <p:spPr>
          <a:xfrm>
            <a:off x="6607016" y="4717733"/>
            <a:ext cx="2990731" cy="281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Comprehensive Logging</a:t>
            </a:r>
            <a:endParaRPr lang="en-US" sz="1750" dirty="0"/>
          </a:p>
        </p:txBody>
      </p:sp>
      <p:sp>
        <p:nvSpPr>
          <p:cNvPr id="15" name="Text 12"/>
          <p:cNvSpPr/>
          <p:nvPr/>
        </p:nvSpPr>
        <p:spPr>
          <a:xfrm>
            <a:off x="6607016" y="5114211"/>
            <a:ext cx="3141345" cy="1224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Record progress and outcomes meticulously. Detailed transcripts enable analysis, optimization, and error recovery.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6324124" y="6768822"/>
            <a:ext cx="7468553" cy="6124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This pattern scales from simple automation to complex multi-agent systems, providing clear separation of concerns and robust error handling.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2025-10-01T07:39:15Z</dcterms:created>
  <dcterms:modified xsi:type="dcterms:W3CDTF">2025-10-01T07:39:15Z</dcterms:modified>
</cp:coreProperties>
</file>